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b596ba42-471b-0713-a8e3-99047f2f1bad}">
          <p14:sldIdLst>
            <p14:sldId id="256"/>
          </p14:sldIdLst>
        </p14:section>
        <p14:section name="Cenário" id="{8c64219f-c772-be56-fb2d-d5948cfd91d3}">
          <p14:sldIdLst>
            <p14:sldId id="257"/>
          </p14:sldIdLst>
        </p14:section>
        <p14:section name="Qualidade" id="{57da55e8-bae2-5265-9c28-1bf6c819e222}">
          <p14:sldIdLst>
            <p14:sldId id="258"/>
            <p14:sldId id="259"/>
          </p14:sldIdLst>
        </p14:section>
        <p14:section name="Arquitetura" id="{36efce1c-739e-79a2-913c-81b48891a216}">
          <p14:sldIdLst>
            <p14:sldId id="260"/>
            <p14:sldId id="261"/>
            <p14:sldId id="262"/>
            <p14:sldId id="263"/>
            <p14:sldId id="264"/>
          </p14:sldIdLst>
        </p14:section>
        <p14:section name="Backlog e recorte" id="{d2eae516-a1fb-4c61-9bf9-3befe975fd4c}">
          <p14:sldIdLst>
            <p14:sldId id="265"/>
            <p14:sldId id="266"/>
          </p14:sldIdLst>
        </p14:section>
        <p14:section name="Fecho" id="{cba899a6-8ad5-9366-68c9-0fb734034589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 Sprint 2 vai do requisito ao desenho: com que qualidade o sistema faz o que faz, e como ele é construído. Ainda sem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minuto de cenário. Passageiras registram, com foto, os pontos das estações onde se sentiram inseguras, e quem vai passar por ali consulta os últimos 30 dias. A Sprint 1 disse o que o sistema faz; a Sprint 2 diz com que qualidade, com número, e desenha onde cada parte mora.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requisitos não funcionais, um para cada requisito funcional da Sprint 1, por orientação da professora. Todos na fórmula: categoria, número e condição. O reenvio não duplica o relato nem a confirmação, o público só lê a foto, a consulta responde em até 500 ms no p95 com 300 relatos, e toda recusa aparece no registro em até 10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requisito se apoia num pilar do Well-Architected. O pilar 3 tem dois, porque o relato e a confirmação passam pelo mesmo túnel sem sinal. Ficam de fora o 5 e o 6: no LocalStack não há fatura nem medição de consumo, e um número inventado parece verificado sem ter sido. Mesmo assim, o desenho só usa serviços cobrados por uso.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camadas: a página no S3, as três funções atrás do API Gateway, e a tabela e as fotos. A página não tem credencial nenhuma: o config.js só traz o endereço da API, e a permissão de falar com os dados fica no IAM. A única leitura direta é a da foto, pelo endereço exato, e listar, gravar ou apagar continua proibido.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seis estilos da disciplina, adotamos o Distributed: três funções independentes atrás do API Gateway. Uma falha no relato não derruba a consulta, e só com funções separadas a consulta pode ter um papel do IAM só de leitura, como o RF-03 exige. Descartamos o Implicit Invocation, a chegada da foto disparando a gravação: a foto ficaria guardada com a localização do celular até ser limpa, e a passageira não receberia o protocolo na hora.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padrões estão no desenho. O API Gateway é a porta única das três rotas. O MVC separa a página, que é a visão, das funções, que são o controle, e do relato, que é o modelo. O que faria falta é o Event Sourcing: guardar cada confirmação com a data mostraria se o problema continua, e não só o total. E o CQRS é só a metade: caminhos separados, mas o mesmo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diagrama, feito no Lucidchart sobre o modelo AWS, com o ícone oficial de cada serviço: três camadas e o apoio, com o IAM e o CloudWatch. As setas de 1 a 5 seguem um relato: o navegador envia ao API Gateway, que chama a função registrar; ela grava primeiro a foto e depois o relato; e a consultar lê os últimos 30 dias. Se uma caixa cair: sem a função registrar, nenhum relato novo entra, mas a consulta continua; sem a consultar, a passageira não vê a lista, mas nada se perde; sem a tabela, nada funciona; sem o bucket, o relato falha antes de gravar, porque a foto vai primeiro; sem o CloudWatch, tudo funciona, mas perde-se a prova do RF-05.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pergunta da tela tem duas partes, e cada uma virou uma parte da chave. Nesta estação é a partição; nos últimos 30 dias é o começo da ordenação. A partição é o código da estação, e não o nome, porque nomes mudam. A foto vai para o S3, porque um item do DynamoDB aceita no máximo 400 KB. Conferimos a chave no LocalStack: 13 conferências, 13 aprovadas.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backlog junta os 5 requisitos funcionais, as 3 histórias e os 5 não funcionais: 13 itens, 7 em alta, 5 em média e 1 em baixa. Por orientação da professora, o recorte cabe no tempo: toda a prioridade alta e a confirmação. A Sprint 3 faz a gravação, e a Sprint 4 a confirmação, a consulta e a página. Fica especificado e não implementado o RNF-04, além do limite de 10 minutos e da conferência do EXIF na função.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ressalvas que já estão escritas no documento. O limite de confirmações só desacelera a fraude, e ficou fora do recorte. Um reenvio que atravesse a meia-noite em UTC, 21h em Brasília, duplica o relato: a janela é de segundos. A lista de 97 estações ainda precisa ser conferida com a oficial. E a usabilidade, a lista lida em pé com uma mão, ficou sem número: vira o desenho da página na Sprint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lembrar: requisito sem número é opinião. Cada requisito funcional ganhou um número, cada número se apoia num serviço e num pilar, cada caixa do diagrama tem um requisito, e a chave da tabela nasce da pergunta da tela.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2651760"/>
            <a:ext cx="5257800" cy="1344168"/>
          </a:xfrm>
          <a:prstGeom prst="rect">
            <a:avLst>
              <a:gd name="adj" fmla="val 4082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12648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10515600" y="612648"/>
            <a:ext cx="86868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813816" y="205740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1051560" y="2651760"/>
            <a:ext cx="7315200" cy="13441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8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813816" y="4160520"/>
            <a:ext cx="91440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813816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5912" y="246888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10725912" y="246888"/>
            <a:ext cx="658368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13816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033272" y="1252728"/>
            <a:ext cx="950976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m areia">
    <p:bg>
      <p:bgPr>
        <a:solidFill>
          <a:schemeClr val="accent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5912" y="246888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10725912" y="246888"/>
            <a:ext cx="658368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13816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033272" y="1252728"/>
            <a:ext cx="950976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12648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10515600" y="612648"/>
            <a:ext cx="86868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13816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813816" y="2331720"/>
            <a:ext cx="96012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i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813816" y="443484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10515600" y="6126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813816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 em ciência de dados iv · sprint 2</a:t>
            </a:r>
            <a:endParaRPr lang="en-US" sz="1500" dirty="0"/>
          </a:p>
        </p:txBody>
      </p:sp>
      <p:sp>
        <p:nvSpPr>
          <p:cNvPr id="4" name="Text 2"/>
          <p:cNvSpPr/>
          <p:nvPr>
            <p:ph idx="104" type="title" hasCustomPrompt="1"/>
          </p:nvPr>
        </p:nvSpPr>
        <p:spPr>
          <a:xfrm>
            <a:off x="1051560" y="2651760"/>
            <a:ext cx="73152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tx1"/>
                </a:solidFill>
              </a:rPr>
              <a:t>CPTM SOS</a:t>
            </a:r>
            <a:endParaRPr lang="en-US" sz="80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813816" y="41605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requisito ao desenho</a:t>
            </a:r>
            <a:endParaRPr lang="en-US" sz="3800" dirty="0"/>
          </a:p>
        </p:txBody>
      </p:sp>
      <p:sp>
        <p:nvSpPr>
          <p:cNvPr id="6" name="Text 2"/>
          <p:cNvSpPr/>
          <p:nvPr>
            <p:ph idx="106" type="body" hasCustomPrompt="1"/>
          </p:nvPr>
        </p:nvSpPr>
        <p:spPr>
          <a:xfrm>
            <a:off x="813816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[nomes da equipe] · ibmec · 2º semestre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0725912" y="246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13816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cptm sos · sprint 2 · o cenário</a:t>
            </a:r>
            <a:endParaRPr lang="en-US" sz="1200" dirty="0"/>
          </a:p>
        </p:txBody>
      </p:sp>
      <p:sp>
        <p:nvSpPr>
          <p:cNvPr id="4" name="Faixa do título"/>
          <p:cNvSpPr/>
          <p:nvPr/>
        </p:nvSpPr>
        <p:spPr>
          <a:xfrm>
            <a:off x="813816" y="1252728"/>
            <a:ext cx="5291099" cy="603504"/>
          </a:xfrm>
          <a:prstGeom prst="roundRect">
            <a:avLst>
              <a:gd name="adj" fmla="val 7576"/>
            </a:avLst>
          </a:prstGeom>
          <a:solidFill>
            <a:schemeClr val="accent1"/>
          </a:solidFill>
          <a:ln/>
        </p:spPr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033272" y="1252728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Do que faz ao como faz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13816" y="214884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Passageiras registram, com uma foto, os pontos das estações onde se sentiram inseguras. Quem vai passar por ali consulta o que já foi relatado.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3816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relato chega com</a:t>
            </a:r>
            <a:endParaRPr lang="en-US" sz="1200" dirty="0"/>
          </a:p>
        </p:txBody>
      </p:sp>
      <p:sp>
        <p:nvSpPr>
          <p:cNvPr id="9" name="Etiqueta estação"/>
          <p:cNvSpPr txBox="1"/>
          <p:nvPr/>
        </p:nvSpPr>
        <p:spPr>
          <a:xfrm>
            <a:off x="813816" y="3977640"/>
            <a:ext cx="1074420" cy="384048"/>
          </a:xfrm>
          <a:prstGeom prst="roundRect">
            <a:avLst>
              <a:gd name="adj" fmla="val 1190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estação</a:t>
            </a:r>
            <a:endParaRPr lang="en-US" sz="1500" dirty="0"/>
          </a:p>
        </p:txBody>
      </p:sp>
      <p:sp>
        <p:nvSpPr>
          <p:cNvPr id="10" name="Etiqueta tipo"/>
          <p:cNvSpPr txBox="1"/>
          <p:nvPr/>
        </p:nvSpPr>
        <p:spPr>
          <a:xfrm>
            <a:off x="2025396" y="3977640"/>
            <a:ext cx="731520" cy="384048"/>
          </a:xfrm>
          <a:prstGeom prst="roundRect">
            <a:avLst>
              <a:gd name="adj" fmla="val 1190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</a:t>
            </a:r>
            <a:endParaRPr lang="en-US" sz="1500" dirty="0"/>
          </a:p>
        </p:txBody>
      </p:sp>
      <p:sp>
        <p:nvSpPr>
          <p:cNvPr id="11" name="Etiqueta faixa"/>
          <p:cNvSpPr txBox="1"/>
          <p:nvPr/>
        </p:nvSpPr>
        <p:spPr>
          <a:xfrm>
            <a:off x="2894076" y="3977640"/>
            <a:ext cx="845820" cy="384048"/>
          </a:xfrm>
          <a:prstGeom prst="roundRect">
            <a:avLst>
              <a:gd name="adj" fmla="val 1190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faixa</a:t>
            </a:r>
            <a:endParaRPr lang="en-US" sz="1500" dirty="0"/>
          </a:p>
        </p:txBody>
      </p:sp>
      <p:sp>
        <p:nvSpPr>
          <p:cNvPr id="12" name="Etiqueta foto"/>
          <p:cNvSpPr txBox="1"/>
          <p:nvPr/>
        </p:nvSpPr>
        <p:spPr>
          <a:xfrm>
            <a:off x="3877056" y="3977640"/>
            <a:ext cx="731520" cy="384048"/>
          </a:xfrm>
          <a:prstGeom prst="roundRect">
            <a:avLst>
              <a:gd name="adj" fmla="val 1190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</a:t>
            </a:r>
            <a:endParaRPr lang="en-US" sz="1500" dirty="0"/>
          </a:p>
        </p:txBody>
      </p:sp>
      <p:sp>
        <p:nvSpPr>
          <p:cNvPr id="13" name="Etiqueta descrição"/>
          <p:cNvSpPr txBox="1"/>
          <p:nvPr/>
        </p:nvSpPr>
        <p:spPr>
          <a:xfrm>
            <a:off x="4745736" y="3977640"/>
            <a:ext cx="1303020" cy="384048"/>
          </a:xfrm>
          <a:prstGeom prst="roundRect">
            <a:avLst>
              <a:gd name="adj" fmla="val 1190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descrição</a:t>
            </a:r>
            <a:endParaRPr lang="en-US" sz="1500" dirty="0"/>
          </a:p>
        </p:txBody>
      </p:sp>
      <p:sp>
        <p:nvSpPr>
          <p:cNvPr id="14" name="Cartão a pergunta da tela"/>
          <p:cNvSpPr/>
          <p:nvPr/>
        </p:nvSpPr>
        <p:spPr>
          <a:xfrm>
            <a:off x="6812280" y="2176272"/>
            <a:ext cx="4572000" cy="3886200"/>
          </a:xfrm>
          <a:prstGeom prst="roundRect">
            <a:avLst>
              <a:gd name="adj" fmla="val 2824"/>
            </a:avLst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32320" y="2468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pergunta da tela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132320" y="306324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que foi relatado nesta estação nos últimos 30 dias?”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7132320" y="50749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Sprint 2 diz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 que qualidade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isso acontece, e como é construído.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0725912" y="246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13816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cptm sos · sprint 2 · requisitos não funcionais</a:t>
            </a:r>
            <a:endParaRPr lang="en-US" sz="1200" dirty="0"/>
          </a:p>
        </p:txBody>
      </p:sp>
      <p:sp>
        <p:nvSpPr>
          <p:cNvPr id="4" name="Faixa do título"/>
          <p:cNvSpPr/>
          <p:nvPr/>
        </p:nvSpPr>
        <p:spPr>
          <a:xfrm>
            <a:off x="813816" y="1252728"/>
            <a:ext cx="6284023" cy="603504"/>
          </a:xfrm>
          <a:prstGeom prst="roundRect">
            <a:avLst>
              <a:gd name="adj" fmla="val 7576"/>
            </a:avLst>
          </a:prstGeom>
          <a:solidFill>
            <a:schemeClr val="accent1"/>
          </a:solidFill>
          <a:ln/>
        </p:spPr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033272" y="1252728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Cada RF ganhou um número</a:t>
            </a:r>
            <a:endParaRPr lang="en-US" sz="3400" dirty="0"/>
          </a:p>
        </p:txBody>
      </p:sp>
      <p:graphicFrame>
        <p:nvGraphicFramePr>
          <p:cNvPr id="4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2103120"/>
          <a:ext cx="10570464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868680"/>
                <a:gridCol w="1828800"/>
                <a:gridCol w="4626864"/>
                <a:gridCol w="2286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</a:rPr>
                        <a:t>rnf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</a:rPr>
                        <a:t>do rf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</a:rPr>
                        <a:t>categoria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</a:rPr>
                        <a:t>o número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</a:rPr>
                        <a:t>serviço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RNF-01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RF-01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Reliability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 reenvios do mesmo relato gravam 1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DynamoDB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RNF-02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RF-02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Segurança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 público só lê a foto: 0 ações de listar, gravar ou apagar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S3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RNF-03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RF-03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Performance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consulta em até 500 ms no p95, com 300 relatos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DynamoDB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RNF-04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RF-04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Reliability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 reenvios da mesma confirmação somam 1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DynamoDB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RNF-05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RF-05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Observabilidade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 linha por recusa, visível em até 10 s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CloudWatch Logs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813816" y="5669280"/>
            <a:ext cx="10570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[categoria] + número + condição.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Sem número, é opinião: na Sprint 5, cada um é medido.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0725912" y="246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13816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cptm sos · sprint 2 · well-architected</a:t>
            </a:r>
            <a:endParaRPr lang="en-US" sz="1200" dirty="0"/>
          </a:p>
        </p:txBody>
      </p:sp>
      <p:sp>
        <p:nvSpPr>
          <p:cNvPr id="4" name="Faixa do título"/>
          <p:cNvSpPr/>
          <p:nvPr/>
        </p:nvSpPr>
        <p:spPr>
          <a:xfrm>
            <a:off x="813816" y="1252728"/>
            <a:ext cx="6039193" cy="603504"/>
          </a:xfrm>
          <a:prstGeom prst="roundRect">
            <a:avLst>
              <a:gd name="adj" fmla="val 7576"/>
            </a:avLst>
          </a:prstGeom>
          <a:solidFill>
            <a:schemeClr val="accent1"/>
          </a:solidFill>
          <a:ln/>
        </p:spPr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033272" y="1252728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Quatro pilares, dois de fora</a:t>
            </a:r>
            <a:endParaRPr lang="en-US" sz="3400" dirty="0"/>
          </a:p>
        </p:txBody>
      </p:sp>
      <p:sp>
        <p:nvSpPr>
          <p:cNvPr id="7" name="Cartão Excelência Operacional"/>
          <p:cNvSpPr/>
          <p:nvPr/>
        </p:nvSpPr>
        <p:spPr>
          <a:xfrm>
            <a:off x="813816" y="2148840"/>
            <a:ext cx="3346704" cy="1783080"/>
          </a:xfrm>
          <a:prstGeom prst="roundRect">
            <a:avLst>
              <a:gd name="adj" fmla="val 6154"/>
            </a:avLst>
          </a:prstGeom>
          <a:solidFill>
            <a:schemeClr val="accent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69848" y="2377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 1 · rnf-05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69848" y="2724912"/>
            <a:ext cx="283464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Excelência Operacional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069848" y="3092958"/>
            <a:ext cx="2834640" cy="674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registro das recusas serve para operar e ajustar o sistema.</a:t>
            </a:r>
            <a:endParaRPr lang="en-US" sz="1500" dirty="0"/>
          </a:p>
        </p:txBody>
      </p:sp>
      <p:sp>
        <p:nvSpPr>
          <p:cNvPr id="11" name="Cartão Segurança"/>
          <p:cNvSpPr/>
          <p:nvPr/>
        </p:nvSpPr>
        <p:spPr>
          <a:xfrm>
            <a:off x="4425696" y="2148840"/>
            <a:ext cx="3346704" cy="1783080"/>
          </a:xfrm>
          <a:prstGeom prst="roundRect">
            <a:avLst>
              <a:gd name="adj" fmla="val 6154"/>
            </a:avLst>
          </a:prstGeom>
          <a:solidFill>
            <a:schemeClr val="accent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81728" y="2377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 2 · rnf-02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681728" y="2724912"/>
            <a:ext cx="283464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681728" y="3092958"/>
            <a:ext cx="2834640" cy="674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público só lê a foto; só a função registrar grava no bucket.</a:t>
            </a:r>
            <a:endParaRPr lang="en-US" sz="1500" dirty="0"/>
          </a:p>
        </p:txBody>
      </p:sp>
      <p:sp>
        <p:nvSpPr>
          <p:cNvPr id="15" name="Cartão Confiabilidade"/>
          <p:cNvSpPr/>
          <p:nvPr/>
        </p:nvSpPr>
        <p:spPr>
          <a:xfrm>
            <a:off x="8037576" y="2148840"/>
            <a:ext cx="3346704" cy="1783080"/>
          </a:xfrm>
          <a:prstGeom prst="roundRect">
            <a:avLst>
              <a:gd name="adj" fmla="val 6154"/>
            </a:avLst>
          </a:prstGeom>
          <a:solidFill>
            <a:schemeClr val="accent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93608" y="2377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 3 · rnf-01, rnf-04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293608" y="2724912"/>
            <a:ext cx="283464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Confiabilidade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293608" y="3092958"/>
            <a:ext cx="2834640" cy="674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túnel derruba o sinal: reenviar não duplica nada.</a:t>
            </a:r>
            <a:endParaRPr lang="en-US" sz="1500" dirty="0"/>
          </a:p>
        </p:txBody>
      </p:sp>
      <p:sp>
        <p:nvSpPr>
          <p:cNvPr id="19" name="Cartão Eficiência de Performance"/>
          <p:cNvSpPr/>
          <p:nvPr/>
        </p:nvSpPr>
        <p:spPr>
          <a:xfrm>
            <a:off x="813816" y="4160520"/>
            <a:ext cx="3346704" cy="1783080"/>
          </a:xfrm>
          <a:prstGeom prst="roundRect">
            <a:avLst>
              <a:gd name="adj" fmla="val 6154"/>
            </a:avLst>
          </a:prstGeom>
          <a:solidFill>
            <a:schemeClr val="accent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69848" y="4389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 4 · rnf-03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69848" y="4736592"/>
            <a:ext cx="283464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de Performance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069848" y="5104638"/>
            <a:ext cx="2834640" cy="674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chave faz a consulta ler só a janela de uma estação.</a:t>
            </a:r>
            <a:endParaRPr lang="en-US" sz="1500" dirty="0"/>
          </a:p>
        </p:txBody>
      </p:sp>
      <p:sp>
        <p:nvSpPr>
          <p:cNvPr id="23" name="Cartão Otimização de Custos"/>
          <p:cNvSpPr/>
          <p:nvPr/>
        </p:nvSpPr>
        <p:spPr>
          <a:xfrm>
            <a:off x="4425696" y="4160520"/>
            <a:ext cx="3346704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9050">
            <a:solidFill>
              <a:srgbClr val="D6C9B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681728" y="4389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 5 · fora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681728" y="4736592"/>
            <a:ext cx="283464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Custos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681728" y="5104638"/>
            <a:ext cx="2834640" cy="674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emulador não há fatura: o número seria inventado.</a:t>
            </a:r>
            <a:endParaRPr lang="en-US" sz="1500" dirty="0"/>
          </a:p>
        </p:txBody>
      </p:sp>
      <p:sp>
        <p:nvSpPr>
          <p:cNvPr id="27" name="Cartão Sustentabilidade"/>
          <p:cNvSpPr/>
          <p:nvPr/>
        </p:nvSpPr>
        <p:spPr>
          <a:xfrm>
            <a:off x="8037576" y="4160520"/>
            <a:ext cx="3346704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9050">
            <a:solidFill>
              <a:srgbClr val="D6C9B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4389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 6 · fora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293608" y="4736592"/>
            <a:ext cx="283464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Sustentabilidade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8293608" y="5104638"/>
            <a:ext cx="2834640" cy="674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Sem medir o consumo de máquina, também seria inventado.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0725912" y="246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13816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cptm sos · sprint 2 · três camadas</a:t>
            </a:r>
            <a:endParaRPr lang="en-US" sz="1200" dirty="0"/>
          </a:p>
        </p:txBody>
      </p:sp>
      <p:sp>
        <p:nvSpPr>
          <p:cNvPr id="4" name="Faixa do título"/>
          <p:cNvSpPr/>
          <p:nvPr/>
        </p:nvSpPr>
        <p:spPr>
          <a:xfrm>
            <a:off x="813816" y="1252728"/>
            <a:ext cx="7784744" cy="603504"/>
          </a:xfrm>
          <a:prstGeom prst="roundRect">
            <a:avLst>
              <a:gd name="adj" fmla="val 7576"/>
            </a:avLst>
          </a:prstGeom>
          <a:solidFill>
            <a:schemeClr val="accent1"/>
          </a:solidFill>
          <a:ln/>
        </p:spPr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033272" y="1252728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Cada camada só fala com a vizinha</a:t>
            </a:r>
            <a:endParaRPr lang="en-US" sz="3400" dirty="0"/>
          </a:p>
        </p:txBody>
      </p:sp>
      <p:sp>
        <p:nvSpPr>
          <p:cNvPr id="7" name="Cartão Página"/>
          <p:cNvSpPr/>
          <p:nvPr/>
        </p:nvSpPr>
        <p:spPr>
          <a:xfrm>
            <a:off x="813816" y="2148840"/>
            <a:ext cx="3108960" cy="1691640"/>
          </a:xfrm>
          <a:prstGeom prst="roundRect">
            <a:avLst>
              <a:gd name="adj" fmla="val 6486"/>
            </a:avLst>
          </a:prstGeom>
          <a:solidFill>
            <a:schemeClr val="accent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69848" y="237744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apresentação · s3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69848" y="2724912"/>
            <a:ext cx="259689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Página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069848" y="3203448"/>
            <a:ext cx="259689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formulário, consulta e botão de confirmar</a:t>
            </a:r>
            <a:endParaRPr lang="en-US" sz="1600" dirty="0"/>
          </a:p>
        </p:txBody>
      </p:sp>
      <p:sp>
        <p:nvSpPr>
          <p:cNvPr id="11" name="Seta"/>
          <p:cNvSpPr/>
          <p:nvPr/>
        </p:nvSpPr>
        <p:spPr>
          <a:xfrm>
            <a:off x="4078224" y="2907792"/>
            <a:ext cx="310896" cy="1828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2" name="Cartão Três funções"/>
          <p:cNvSpPr/>
          <p:nvPr/>
        </p:nvSpPr>
        <p:spPr>
          <a:xfrm>
            <a:off x="4544568" y="2148840"/>
            <a:ext cx="3108960" cy="1691640"/>
          </a:xfrm>
          <a:prstGeom prst="roundRect">
            <a:avLst>
              <a:gd name="adj" fmla="val 6486"/>
            </a:avLst>
          </a:prstGeom>
          <a:solidFill>
            <a:schemeClr val="accent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00600" y="237744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negócio · lambda, api gw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800600" y="2724912"/>
            <a:ext cx="259689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funções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4800600" y="3203448"/>
            <a:ext cx="259689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registrar, consultar e confirmar, atrás de uma porta</a:t>
            </a:r>
            <a:endParaRPr lang="en-US" sz="1600" dirty="0"/>
          </a:p>
        </p:txBody>
      </p:sp>
      <p:sp>
        <p:nvSpPr>
          <p:cNvPr id="16" name="Seta"/>
          <p:cNvSpPr/>
          <p:nvPr/>
        </p:nvSpPr>
        <p:spPr>
          <a:xfrm>
            <a:off x="7808976" y="2907792"/>
            <a:ext cx="310896" cy="1828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7" name="Cartão Tabela e fotos"/>
          <p:cNvSpPr/>
          <p:nvPr/>
        </p:nvSpPr>
        <p:spPr>
          <a:xfrm>
            <a:off x="8275320" y="2148840"/>
            <a:ext cx="3108960" cy="1691640"/>
          </a:xfrm>
          <a:prstGeom prst="roundRect">
            <a:avLst>
              <a:gd name="adj" fmla="val 6486"/>
            </a:avLst>
          </a:prstGeom>
          <a:solidFill>
            <a:schemeClr val="accent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531352" y="237744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 · dynamodb, s3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531352" y="2724912"/>
            <a:ext cx="259689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e fotos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8531352" y="3203448"/>
            <a:ext cx="259689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relato fica na tabela; a foto, no bucket</a:t>
            </a:r>
            <a:endParaRPr lang="en-US" sz="1600" dirty="0"/>
          </a:p>
        </p:txBody>
      </p:sp>
      <p:sp>
        <p:nvSpPr>
          <p:cNvPr id="21" name="Linha da coluna"/>
          <p:cNvSpPr/>
          <p:nvPr/>
        </p:nvSpPr>
        <p:spPr>
          <a:xfrm>
            <a:off x="813816" y="4343400"/>
            <a:ext cx="5157216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3816" y="4498848"/>
            <a:ext cx="5157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página → nunca o banco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13816" y="4892040"/>
            <a:ext cx="5157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config.js só traz o endereço da API. A permissão fica no IAM, do lado da AWS.</a:t>
            </a:r>
            <a:endParaRPr lang="en-US" sz="1800" dirty="0"/>
          </a:p>
        </p:txBody>
      </p:sp>
      <p:sp>
        <p:nvSpPr>
          <p:cNvPr id="24" name="Linha da coluna"/>
          <p:cNvSpPr/>
          <p:nvPr/>
        </p:nvSpPr>
        <p:spPr>
          <a:xfrm>
            <a:off x="6227064" y="4343400"/>
            <a:ext cx="5157216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27064" y="4498848"/>
            <a:ext cx="5157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única leitura direta → a foto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227064" y="4892040"/>
            <a:ext cx="5157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Pelo endereço exato. Listar, gravar e apagar continuam proibidos (RNF-02).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0725912" y="246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13816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cptm sos · sprint 2 · estilo arquitetural</a:t>
            </a:r>
            <a:endParaRPr lang="en-US" sz="1200" dirty="0"/>
          </a:p>
        </p:txBody>
      </p:sp>
      <p:sp>
        <p:nvSpPr>
          <p:cNvPr id="4" name="Faixa do título"/>
          <p:cNvSpPr/>
          <p:nvPr/>
        </p:nvSpPr>
        <p:spPr>
          <a:xfrm>
            <a:off x="813816" y="1252728"/>
            <a:ext cx="7091058" cy="603504"/>
          </a:xfrm>
          <a:prstGeom prst="roundRect">
            <a:avLst>
              <a:gd name="adj" fmla="val 7576"/>
            </a:avLst>
          </a:prstGeom>
          <a:solidFill>
            <a:schemeClr val="accent1"/>
          </a:solidFill>
          <a:ln/>
        </p:spPr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033272" y="1252728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Três funções atrás de uma porta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13816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 seis estilos da disciplina</a:t>
            </a:r>
            <a:endParaRPr lang="en-US" sz="1200" dirty="0"/>
          </a:p>
        </p:txBody>
      </p:sp>
      <p:sp>
        <p:nvSpPr>
          <p:cNvPr id="8" name="Etiqueta data flow"/>
          <p:cNvSpPr txBox="1"/>
          <p:nvPr/>
        </p:nvSpPr>
        <p:spPr>
          <a:xfrm>
            <a:off x="813816" y="2468880"/>
            <a:ext cx="1165860" cy="384048"/>
          </a:xfrm>
          <a:prstGeom prst="roundRect">
            <a:avLst>
              <a:gd name="adj" fmla="val 1190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flow</a:t>
            </a:r>
            <a:endParaRPr lang="en-US" sz="1300" dirty="0"/>
          </a:p>
        </p:txBody>
      </p:sp>
      <p:sp>
        <p:nvSpPr>
          <p:cNvPr id="9" name="Etiqueta call and return"/>
          <p:cNvSpPr txBox="1"/>
          <p:nvPr/>
        </p:nvSpPr>
        <p:spPr>
          <a:xfrm>
            <a:off x="2107692" y="2468880"/>
            <a:ext cx="1760220" cy="384048"/>
          </a:xfrm>
          <a:prstGeom prst="roundRect">
            <a:avLst>
              <a:gd name="adj" fmla="val 1190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and return</a:t>
            </a:r>
            <a:endParaRPr lang="en-US" sz="1300" dirty="0"/>
          </a:p>
        </p:txBody>
      </p:sp>
      <p:sp>
        <p:nvSpPr>
          <p:cNvPr id="10" name="Etiqueta implicit invocation"/>
          <p:cNvSpPr txBox="1"/>
          <p:nvPr/>
        </p:nvSpPr>
        <p:spPr>
          <a:xfrm>
            <a:off x="3995928" y="2468880"/>
            <a:ext cx="215646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implicit invocation</a:t>
            </a:r>
            <a:endParaRPr lang="en-US" sz="1300" dirty="0"/>
          </a:p>
        </p:txBody>
      </p:sp>
      <p:sp>
        <p:nvSpPr>
          <p:cNvPr id="11" name="Etiqueta repository"/>
          <p:cNvSpPr txBox="1"/>
          <p:nvPr/>
        </p:nvSpPr>
        <p:spPr>
          <a:xfrm>
            <a:off x="6280404" y="2468880"/>
            <a:ext cx="1264920" cy="384048"/>
          </a:xfrm>
          <a:prstGeom prst="roundRect">
            <a:avLst>
              <a:gd name="adj" fmla="val 1190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12" name="Etiqueta distributed"/>
          <p:cNvSpPr txBox="1"/>
          <p:nvPr/>
        </p:nvSpPr>
        <p:spPr>
          <a:xfrm>
            <a:off x="7673340" y="2468880"/>
            <a:ext cx="1363980" cy="384048"/>
          </a:xfrm>
          <a:prstGeom prst="roundRect">
            <a:avLst>
              <a:gd name="adj" fmla="val 1190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distributed</a:t>
            </a:r>
            <a:endParaRPr lang="en-US" sz="1300" dirty="0"/>
          </a:p>
        </p:txBody>
      </p:sp>
      <p:sp>
        <p:nvSpPr>
          <p:cNvPr id="13" name="Etiqueta virtual machines"/>
          <p:cNvSpPr txBox="1"/>
          <p:nvPr/>
        </p:nvSpPr>
        <p:spPr>
          <a:xfrm>
            <a:off x="9165336" y="2468880"/>
            <a:ext cx="1859280" cy="384048"/>
          </a:xfrm>
          <a:prstGeom prst="roundRect">
            <a:avLst>
              <a:gd name="adj" fmla="val 1190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 machines</a:t>
            </a:r>
            <a:endParaRPr lang="en-US" sz="1300" dirty="0"/>
          </a:p>
        </p:txBody>
      </p:sp>
      <p:sp>
        <p:nvSpPr>
          <p:cNvPr id="14" name="Cartão Distributed"/>
          <p:cNvSpPr/>
          <p:nvPr/>
        </p:nvSpPr>
        <p:spPr>
          <a:xfrm>
            <a:off x="813816" y="3154680"/>
            <a:ext cx="5157216" cy="2788920"/>
          </a:xfrm>
          <a:prstGeom prst="roundRect">
            <a:avLst>
              <a:gd name="adj" fmla="val 3934"/>
            </a:avLst>
          </a:prstGeom>
          <a:solidFill>
            <a:schemeClr val="accent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69848" y="338328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adotado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069848" y="3730752"/>
            <a:ext cx="4645152" cy="626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</a:t>
            </a:r>
            <a:endParaRPr lang="en-US" sz="3400" dirty="0"/>
          </a:p>
        </p:txBody>
      </p:sp>
      <p:sp>
        <p:nvSpPr>
          <p:cNvPr id="17" name="Text 14"/>
          <p:cNvSpPr txBox="1"/>
          <p:nvPr/>
        </p:nvSpPr>
        <p:spPr>
          <a:xfrm>
            <a:off x="1069848" y="4393438"/>
            <a:ext cx="4645152" cy="1385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Três funções independentes atrás do API Gateway. Uma falha no relato não derruba a consulta, e a consulta tem um papel do IAM só de leitura (RF-03).</a:t>
            </a:r>
            <a:endParaRPr lang="en-US" sz="1700" dirty="0"/>
          </a:p>
        </p:txBody>
      </p:sp>
      <p:sp>
        <p:nvSpPr>
          <p:cNvPr id="18" name="Cartão Implicit Invocation"/>
          <p:cNvSpPr/>
          <p:nvPr/>
        </p:nvSpPr>
        <p:spPr>
          <a:xfrm>
            <a:off x="6227064" y="3154680"/>
            <a:ext cx="5157216" cy="2788920"/>
          </a:xfrm>
          <a:prstGeom prst="roundRect">
            <a:avLst>
              <a:gd name="adj" fmla="val 3934"/>
            </a:avLst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83096" y="338328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descartado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483096" y="3730752"/>
            <a:ext cx="4645152" cy="626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Implicit Invocation</a:t>
            </a:r>
            <a:endParaRPr lang="en-US" sz="3400" dirty="0"/>
          </a:p>
        </p:txBody>
      </p:sp>
      <p:sp>
        <p:nvSpPr>
          <p:cNvPr id="21" name="Text 18"/>
          <p:cNvSpPr txBox="1"/>
          <p:nvPr/>
        </p:nvSpPr>
        <p:spPr>
          <a:xfrm>
            <a:off x="6483096" y="4393438"/>
            <a:ext cx="4645152" cy="1385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foto ficaria guardada com a localização do celular até ser limpa (RD-01), e a passageira não receberia o protocolo na mesma resposta.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0725912" y="246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13816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cptm sos · sprint 2 · padrões</a:t>
            </a:r>
            <a:endParaRPr lang="en-US" sz="1200" dirty="0"/>
          </a:p>
        </p:txBody>
      </p:sp>
      <p:sp>
        <p:nvSpPr>
          <p:cNvPr id="4" name="Faixa do título"/>
          <p:cNvSpPr/>
          <p:nvPr/>
        </p:nvSpPr>
        <p:spPr>
          <a:xfrm>
            <a:off x="813816" y="1252728"/>
            <a:ext cx="7394829" cy="603504"/>
          </a:xfrm>
          <a:prstGeom prst="roundRect">
            <a:avLst>
              <a:gd name="adj" fmla="val 7576"/>
            </a:avLst>
          </a:prstGeom>
          <a:solidFill>
            <a:schemeClr val="accent1"/>
          </a:solidFill>
          <a:ln/>
        </p:spPr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033272" y="1252728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Dois padrões, e um que faria falta</a:t>
            </a:r>
            <a:endParaRPr lang="en-US" sz="3400" dirty="0"/>
          </a:p>
        </p:txBody>
      </p:sp>
      <p:sp>
        <p:nvSpPr>
          <p:cNvPr id="7" name="Cartão API Gateway"/>
          <p:cNvSpPr/>
          <p:nvPr/>
        </p:nvSpPr>
        <p:spPr>
          <a:xfrm>
            <a:off x="813816" y="2148840"/>
            <a:ext cx="3346704" cy="2514600"/>
          </a:xfrm>
          <a:prstGeom prst="roundRect">
            <a:avLst>
              <a:gd name="adj" fmla="val 4364"/>
            </a:avLst>
          </a:prstGeom>
          <a:solidFill>
            <a:schemeClr val="accent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69848" y="2377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padrão 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69848" y="2724912"/>
            <a:ext cx="2834640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069848" y="3166618"/>
            <a:ext cx="2834640" cy="1332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porta única das três rotas, num endereço só.</a:t>
            </a:r>
            <a:endParaRPr lang="en-US" sz="1700" dirty="0"/>
          </a:p>
        </p:txBody>
      </p:sp>
      <p:sp>
        <p:nvSpPr>
          <p:cNvPr id="11" name="Cartão MVC"/>
          <p:cNvSpPr/>
          <p:nvPr/>
        </p:nvSpPr>
        <p:spPr>
          <a:xfrm>
            <a:off x="4425696" y="2148840"/>
            <a:ext cx="3346704" cy="2514600"/>
          </a:xfrm>
          <a:prstGeom prst="roundRect">
            <a:avLst>
              <a:gd name="adj" fmla="val 4364"/>
            </a:avLst>
          </a:prstGeom>
          <a:solidFill>
            <a:schemeClr val="accent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81728" y="2377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padrão 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681728" y="2724912"/>
            <a:ext cx="2834640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MVC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681728" y="3166618"/>
            <a:ext cx="2834640" cy="1332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página é a visão; as funções, o controle; o relato, o modelo.</a:t>
            </a:r>
            <a:endParaRPr lang="en-US" sz="1700" dirty="0"/>
          </a:p>
        </p:txBody>
      </p:sp>
      <p:sp>
        <p:nvSpPr>
          <p:cNvPr id="15" name="Cartão Event Sourcing"/>
          <p:cNvSpPr/>
          <p:nvPr/>
        </p:nvSpPr>
        <p:spPr>
          <a:xfrm>
            <a:off x="8037576" y="2148840"/>
            <a:ext cx="3346704" cy="2514600"/>
          </a:xfrm>
          <a:prstGeom prst="roundRect">
            <a:avLst>
              <a:gd name="adj" fmla="val 4364"/>
            </a:avLst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93608" y="2377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faria falta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293608" y="2724912"/>
            <a:ext cx="2834640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Sourcing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293608" y="3166618"/>
            <a:ext cx="2834640" cy="1332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Cada confirmação guardada com a data mostraria o ritmo, e não só o total.</a:t>
            </a:r>
            <a:endParaRPr lang="en-US" sz="1700" dirty="0"/>
          </a:p>
        </p:txBody>
      </p:sp>
      <p:sp>
        <p:nvSpPr>
          <p:cNvPr id="19" name="Barra e o CQRS"/>
          <p:cNvSpPr/>
          <p:nvPr/>
        </p:nvSpPr>
        <p:spPr>
          <a:xfrm>
            <a:off x="813816" y="4937760"/>
            <a:ext cx="10570464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69848" y="5257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o cqrs?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520440" y="50749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É a metade dele: leitura e gravação em caminhos separados, mas sobre o mesmo modelo, a mesma tabela.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0725912" y="246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13816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cptm sos · sprint 2 · o diagrama</a:t>
            </a:r>
            <a:endParaRPr lang="en-US" sz="1200" dirty="0"/>
          </a:p>
        </p:txBody>
      </p:sp>
      <p:sp>
        <p:nvSpPr>
          <p:cNvPr id="4" name="Faixa do título"/>
          <p:cNvSpPr/>
          <p:nvPr/>
        </p:nvSpPr>
        <p:spPr>
          <a:xfrm>
            <a:off x="813816" y="1252728"/>
            <a:ext cx="3722370" cy="603504"/>
          </a:xfrm>
          <a:prstGeom prst="roundRect">
            <a:avLst>
              <a:gd name="adj" fmla="val 7576"/>
            </a:avLst>
          </a:prstGeom>
          <a:solidFill>
            <a:schemeClr val="accent1"/>
          </a:solidFill>
          <a:ln/>
        </p:spPr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033272" y="1252728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Caixa por caixa</a:t>
            </a:r>
            <a:endParaRPr lang="en-US" sz="3400" dirty="0"/>
          </a:p>
        </p:txBody>
      </p:sp>
      <p:sp>
        <p:nvSpPr>
          <p:cNvPr id="7" name="Moldura do diagrama"/>
          <p:cNvSpPr/>
          <p:nvPr/>
        </p:nvSpPr>
        <p:spPr>
          <a:xfrm>
            <a:off x="813816" y="2057400"/>
            <a:ext cx="8259184" cy="4343400"/>
          </a:xfrm>
          <a:prstGeom prst="roundRect">
            <a:avLst>
              <a:gd name="adj" fmla="val 1684"/>
            </a:avLst>
          </a:prstGeom>
          <a:solidFill>
            <a:schemeClr val="bg1"/>
          </a:solidFill>
          <a:ln w="12700">
            <a:solidFill>
              <a:srgbClr val="D6C9B5"/>
            </a:solidFill>
            <a:prstDash val="solid"/>
          </a:ln>
        </p:spPr>
      </p:sp>
      <p:pic>
        <p:nvPicPr>
          <p:cNvPr id="8" name="Diagrama" descr="Diagrama de arquitetura AWS do CPTM SOS: a passageira usa o navegador; na nuvem AWS, o site no S3, o API Gateway e as funções registrar, confirmar e consultar, a tabela no DynamoDB e as fotos no S3; IAM e CloudWatch como apoio. Setas de 1 a 5 seguem o caminho de um relat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148840"/>
            <a:ext cx="8076304" cy="41605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347320" y="2103120"/>
            <a:ext cx="203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Cada ícone tem um requisito na legenda.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347320" y="3154680"/>
            <a:ext cx="203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setas 3 e 4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9347320" y="3447288"/>
            <a:ext cx="203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Foto primeiro, relato depois.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347320" y="4206240"/>
            <a:ext cx="203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separação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9347320" y="4498848"/>
            <a:ext cx="203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Nenhuma seta liga o navegador à tabela.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9347320" y="5257800"/>
            <a:ext cx="203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tracejado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347320" y="5550408"/>
            <a:ext cx="203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Permissão e registro, sem dado da passageira.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0725912" y="246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13816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cptm sos · sprint 2 · modelo de dados</a:t>
            </a:r>
            <a:endParaRPr lang="en-US" sz="1200" dirty="0"/>
          </a:p>
        </p:txBody>
      </p:sp>
      <p:sp>
        <p:nvSpPr>
          <p:cNvPr id="4" name="Faixa do título"/>
          <p:cNvSpPr/>
          <p:nvPr/>
        </p:nvSpPr>
        <p:spPr>
          <a:xfrm>
            <a:off x="813816" y="1252728"/>
            <a:ext cx="5980252" cy="603504"/>
          </a:xfrm>
          <a:prstGeom prst="roundRect">
            <a:avLst>
              <a:gd name="adj" fmla="val 7576"/>
            </a:avLst>
          </a:prstGeom>
          <a:solidFill>
            <a:schemeClr val="accent1"/>
          </a:solidFill>
          <a:ln/>
        </p:spPr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033272" y="1252728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chave nasce da pergunta</a:t>
            </a:r>
            <a:endParaRPr lang="en-US" sz="3400" dirty="0"/>
          </a:p>
        </p:txBody>
      </p:sp>
      <p:sp>
        <p:nvSpPr>
          <p:cNvPr id="7" name="Cartão da chave"/>
          <p:cNvSpPr/>
          <p:nvPr/>
        </p:nvSpPr>
        <p:spPr>
          <a:xfrm>
            <a:off x="813816" y="2148840"/>
            <a:ext cx="4069080" cy="3931920"/>
          </a:xfrm>
          <a:prstGeom prst="roundRect">
            <a:avLst>
              <a:gd name="adj" fmla="val 2791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15568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· partição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15568" y="30358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estacao_id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 · ordenação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15568" y="39959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dia_protocolo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115568" y="4892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pay_per_request: paga por uso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" y="5257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conferido no localstack: 13 de 13</a:t>
            </a:r>
            <a:endParaRPr lang="en-US" sz="1200" dirty="0"/>
          </a:p>
        </p:txBody>
      </p:sp>
      <p:sp>
        <p:nvSpPr>
          <p:cNvPr id="14" name="Marca do item"/>
          <p:cNvSpPr/>
          <p:nvPr/>
        </p:nvSpPr>
        <p:spPr>
          <a:xfrm>
            <a:off x="5394960" y="2286000"/>
            <a:ext cx="54864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669280" y="2286000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“Nesta estação”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0" y="2688336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vira a partição: a consulta vai direto à Brás, sem scan.</a:t>
            </a:r>
            <a:endParaRPr lang="en-US" sz="1800" dirty="0"/>
          </a:p>
        </p:txBody>
      </p:sp>
      <p:sp>
        <p:nvSpPr>
          <p:cNvPr id="17" name="Marca do item"/>
          <p:cNvSpPr/>
          <p:nvPr/>
        </p:nvSpPr>
        <p:spPr>
          <a:xfrm>
            <a:off x="5394960" y="3566160"/>
            <a:ext cx="54864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669280" y="3566160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“Nos últimos 30 dias”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0" y="3968496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vira o começo da ordenação: lê só a fatia da janela.</a:t>
            </a:r>
            <a:endParaRPr lang="en-US" sz="1800" dirty="0"/>
          </a:p>
        </p:txBody>
      </p:sp>
      <p:sp>
        <p:nvSpPr>
          <p:cNvPr id="20" name="Marca do item"/>
          <p:cNvSpPr/>
          <p:nvPr/>
        </p:nvSpPr>
        <p:spPr>
          <a:xfrm>
            <a:off x="5394960" y="4846320"/>
            <a:ext cx="54864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669280" y="4846320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Código, não nome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0" y="5248656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Nomes mudam: as linhas 8 e 9 já trocaram de operadora.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0725912" y="246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13816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cptm sos · sprint 2 · backlog e recorte</a:t>
            </a:r>
            <a:endParaRPr lang="en-US" sz="1200" dirty="0"/>
          </a:p>
        </p:txBody>
      </p:sp>
      <p:sp>
        <p:nvSpPr>
          <p:cNvPr id="4" name="Faixa do título"/>
          <p:cNvSpPr/>
          <p:nvPr/>
        </p:nvSpPr>
        <p:spPr>
          <a:xfrm>
            <a:off x="813816" y="1252728"/>
            <a:ext cx="6669405" cy="603504"/>
          </a:xfrm>
          <a:prstGeom prst="roundRect">
            <a:avLst>
              <a:gd name="adj" fmla="val 7576"/>
            </a:avLst>
          </a:prstGeom>
          <a:solidFill>
            <a:schemeClr val="accent1"/>
          </a:solidFill>
          <a:ln/>
        </p:spPr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033272" y="1252728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Treze itens, doze construídos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13816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rf + 3 histórias + 5 rnf = 13 itens</a:t>
            </a:r>
            <a:endParaRPr lang="en-US" sz="1200" dirty="0"/>
          </a:p>
        </p:txBody>
      </p:sp>
      <p:sp>
        <p:nvSpPr>
          <p:cNvPr id="8" name="Cartão 7"/>
          <p:cNvSpPr/>
          <p:nvPr/>
        </p:nvSpPr>
        <p:spPr>
          <a:xfrm>
            <a:off x="813816" y="2514600"/>
            <a:ext cx="3346704" cy="2148840"/>
          </a:xfrm>
          <a:prstGeom prst="roundRect">
            <a:avLst>
              <a:gd name="adj" fmla="val 5106"/>
            </a:avLst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69848" y="2743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69848" y="3090672"/>
            <a:ext cx="2834640" cy="81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1069848" y="3937508"/>
            <a:ext cx="2834640" cy="561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RF-01, RF-02, RF-03, RF-05 · US-01, US-02 · RNF-02</a:t>
            </a:r>
            <a:endParaRPr lang="en-US" sz="1500" dirty="0"/>
          </a:p>
        </p:txBody>
      </p:sp>
      <p:sp>
        <p:nvSpPr>
          <p:cNvPr id="12" name="Cartão 5"/>
          <p:cNvSpPr/>
          <p:nvPr/>
        </p:nvSpPr>
        <p:spPr>
          <a:xfrm>
            <a:off x="4425696" y="2514600"/>
            <a:ext cx="3346704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681728" y="2743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681728" y="3090672"/>
            <a:ext cx="2834640" cy="81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4681728" y="3937508"/>
            <a:ext cx="2834640" cy="561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RF-04 · US-03 · RNF-01, RNF-03, RNF-04</a:t>
            </a:r>
            <a:endParaRPr lang="en-US" sz="1500" dirty="0"/>
          </a:p>
        </p:txBody>
      </p:sp>
      <p:sp>
        <p:nvSpPr>
          <p:cNvPr id="16" name="Cartão 1"/>
          <p:cNvSpPr/>
          <p:nvPr/>
        </p:nvSpPr>
        <p:spPr>
          <a:xfrm>
            <a:off x="8037576" y="2514600"/>
            <a:ext cx="3346704" cy="2148840"/>
          </a:xfrm>
          <a:prstGeom prst="roundRect">
            <a:avLst>
              <a:gd name="adj" fmla="val 5106"/>
            </a:avLst>
          </a:prstGeom>
          <a:solidFill>
            <a:schemeClr val="accent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93608" y="2743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baixa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293608" y="3090672"/>
            <a:ext cx="2834640" cy="81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9" name="Text 16"/>
          <p:cNvSpPr txBox="1"/>
          <p:nvPr/>
        </p:nvSpPr>
        <p:spPr>
          <a:xfrm>
            <a:off x="8293608" y="3937508"/>
            <a:ext cx="2834640" cy="561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RNF-05</a:t>
            </a:r>
            <a:endParaRPr lang="en-US" sz="1500" dirty="0"/>
          </a:p>
        </p:txBody>
      </p:sp>
      <p:sp>
        <p:nvSpPr>
          <p:cNvPr id="20" name="Barra fica de fora"/>
          <p:cNvSpPr/>
          <p:nvPr/>
        </p:nvSpPr>
        <p:spPr>
          <a:xfrm>
            <a:off x="813816" y="4937760"/>
            <a:ext cx="10570464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69848" y="5257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fica de fora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520440" y="50749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O RNF-04, o limite de 10 minutos e a conferência do EXIF na função: especificados, não implementados.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0725912" y="246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13816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cptm sos · sprint 2 · o que ainda falta</a:t>
            </a:r>
            <a:endParaRPr lang="en-US" sz="1200" dirty="0"/>
          </a:p>
        </p:txBody>
      </p:sp>
      <p:sp>
        <p:nvSpPr>
          <p:cNvPr id="4" name="Faixa do título"/>
          <p:cNvSpPr/>
          <p:nvPr/>
        </p:nvSpPr>
        <p:spPr>
          <a:xfrm>
            <a:off x="813816" y="1252728"/>
            <a:ext cx="6070930" cy="603504"/>
          </a:xfrm>
          <a:prstGeom prst="roundRect">
            <a:avLst>
              <a:gd name="adj" fmla="val 7576"/>
            </a:avLst>
          </a:prstGeom>
          <a:solidFill>
            <a:schemeClr val="accent1"/>
          </a:solidFill>
          <a:ln/>
        </p:spPr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033272" y="1252728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 que já sabemos que falta</a:t>
            </a:r>
            <a:endParaRPr lang="en-US" sz="3400" dirty="0"/>
          </a:p>
        </p:txBody>
      </p:sp>
      <p:sp>
        <p:nvSpPr>
          <p:cNvPr id="7" name="Cartão A fraude só desacelera"/>
          <p:cNvSpPr/>
          <p:nvPr/>
        </p:nvSpPr>
        <p:spPr>
          <a:xfrm>
            <a:off x="813816" y="2148840"/>
            <a:ext cx="5157216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69848" y="2377440"/>
            <a:ext cx="4645152" cy="38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fraude só desacelera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1069848" y="2800731"/>
            <a:ext cx="4645152" cy="966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limite de 10 minutos torna a confirmação falsa lenta, e não impossível. E ficou fora do recorte.</a:t>
            </a:r>
            <a:endParaRPr lang="en-US" sz="1800" dirty="0"/>
          </a:p>
        </p:txBody>
      </p:sp>
      <p:sp>
        <p:nvSpPr>
          <p:cNvPr id="10" name="Cartão Meia-noite em UTC"/>
          <p:cNvSpPr/>
          <p:nvPr/>
        </p:nvSpPr>
        <p:spPr>
          <a:xfrm>
            <a:off x="6227064" y="2148840"/>
            <a:ext cx="5157216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83096" y="2377440"/>
            <a:ext cx="4645152" cy="38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Meia-noite em UTC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6483096" y="2800731"/>
            <a:ext cx="4645152" cy="966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Um reenvio às 21h de Brasília cai em outro dia e duplica o relato. A janela é de segundos.</a:t>
            </a:r>
            <a:endParaRPr lang="en-US" sz="1800" dirty="0"/>
          </a:p>
        </p:txBody>
      </p:sp>
      <p:sp>
        <p:nvSpPr>
          <p:cNvPr id="13" name="Cartão Estações provisórias"/>
          <p:cNvSpPr/>
          <p:nvPr/>
        </p:nvSpPr>
        <p:spPr>
          <a:xfrm>
            <a:off x="813816" y="4160520"/>
            <a:ext cx="5157216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69848" y="4389120"/>
            <a:ext cx="4645152" cy="38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Estações provisórias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1069848" y="4812411"/>
            <a:ext cx="4645152" cy="966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97 estações com códigos nossos. Falta conferir com a relação oficial.</a:t>
            </a:r>
            <a:endParaRPr lang="en-US" sz="1800" dirty="0"/>
          </a:p>
        </p:txBody>
      </p:sp>
      <p:sp>
        <p:nvSpPr>
          <p:cNvPr id="16" name="Cartão Usabilidade sem número"/>
          <p:cNvSpPr/>
          <p:nvPr/>
        </p:nvSpPr>
        <p:spPr>
          <a:xfrm>
            <a:off x="6227064" y="4160520"/>
            <a:ext cx="5157216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83096" y="4389120"/>
            <a:ext cx="4645152" cy="38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Usabilidade sem número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6483096" y="4812411"/>
            <a:ext cx="4645152" cy="966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lista lida em pé, com uma mão, vira o desenho da página na Sprint 4, sem métrica.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0515600" y="6126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13816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lembrar</a:t>
            </a:r>
            <a:endParaRPr lang="en-US" sz="15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813816" y="233172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i="1" dirty="0">
                <a:solidFill>
                  <a:schemeClr val="bg2"/>
                </a:solidFill>
              </a:rPr>
              <a:t>Requisito sem número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i="1" dirty="0">
                <a:solidFill>
                  <a:schemeClr val="bg2"/>
                </a:solidFill>
              </a:rPr>
              <a:t>é opinião.</a:t>
            </a:r>
            <a:endParaRPr lang="en-US" sz="54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813816" y="4434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→ rnf → pilar → caixa → chave</a:t>
            </a:r>
            <a:endParaRPr lang="en-US" sz="1500" dirty="0"/>
          </a:p>
        </p:txBody>
      </p:sp>
      <p:sp>
        <p:nvSpPr>
          <p:cNvPr id="6" name="Etiqueta perguntas"/>
          <p:cNvSpPr txBox="1"/>
          <p:nvPr/>
        </p:nvSpPr>
        <p:spPr>
          <a:xfrm>
            <a:off x="4800600" y="4434840"/>
            <a:ext cx="1783080" cy="475488"/>
          </a:xfrm>
          <a:prstGeom prst="roundRect">
            <a:avLst>
              <a:gd name="adj" fmla="val 961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TM SOS · modelo Sprint 3">
  <a:themeElements>
    <a:clrScheme name="CPTM SOS · modelo Sprint 3">
      <a:dk1>
        <a:srgbClr val="1E1714"/>
      </a:dk1>
      <a:lt1>
        <a:srgbClr val="FFFFFF"/>
      </a:lt1>
      <a:dk2>
        <a:srgbClr val="2340BF"/>
      </a:dk2>
      <a:lt2>
        <a:srgbClr val="F3EBDD"/>
      </a:lt2>
      <a:accent1>
        <a:srgbClr val="E84E1B"/>
      </a:accent1>
      <a:accent2>
        <a:srgbClr val="FDC13A"/>
      </a:accent2>
      <a:accent3>
        <a:srgbClr val="2E6B45"/>
      </a:accent3>
      <a:accent4>
        <a:srgbClr val="E6D7BD"/>
      </a:accent4>
      <a:accent5>
        <a:srgbClr val="6B5E52"/>
      </a:accent5>
      <a:accent6>
        <a:srgbClr val="D6C9B5"/>
      </a:accent6>
      <a:hlink>
        <a:srgbClr val="2340BF"/>
      </a:hlink>
      <a:folHlink>
        <a:srgbClr val="6B5E52"/>
      </a:folHlink>
    </a:clrScheme>
    <a:fontScheme name="CPTM SOS · modelo Sprint 3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CPTM SOS · Sprint 2</dc:title>
  <dc:subject>PptxGenJS Presentation</dc:subject>
  <dc:creator>Equipe CPTM SOS</dc:creator>
  <cp:lastModifiedBy>Equipe CPTM SOS</cp:lastModifiedBy>
  <cp:revision>1</cp:revision>
  <dcterms:created xsi:type="dcterms:W3CDTF">2026-10-29T12:48:44Z</dcterms:created>
  <dcterms:modified xsi:type="dcterms:W3CDTF">2026-10-29T12:48:44Z</dcterms:modified>
</cp:coreProperties>
</file>