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44107b78-bcbe-20ba-4c71-e012efe60f8a}">
          <p14:sldIdLst>
            <p14:sldId id="256"/>
          </p14:sldIdLst>
        </p14:section>
        <p14:section name="O problema e o recorte" id="{ff074fca-8259-8c6f-0f56-60305da5428d}">
          <p14:sldIdLst>
            <p14:sldId id="257"/>
            <p14:sldId id="258"/>
            <p14:sldId id="259"/>
          </p14:sldIdLst>
        </p14:section>
        <p14:section name="Requisitos" id="{29b3ba7e-8dc7-3bf9-643e-03cc28c13573}">
          <p14:sldIdLst>
            <p14:sldId id="260"/>
            <p14:sldId id="261"/>
          </p14:sldIdLst>
        </p14:section>
        <p14:section name="Histórias e critérios" id="{38a02457-55d7-f6d0-fb73-a4a7210d91c1}">
          <p14:sldIdLst>
            <p14:sldId id="262"/>
            <p14:sldId id="263"/>
            <p14:sldId id="264"/>
          </p14:sldIdLst>
        </p14:section>
        <p14:section name="Qualidade e decisões" id="{2ecae28e-5b97-a1bf-0c4b-97042543fb51}">
          <p14:sldIdLst>
            <p14:sldId id="265"/>
            <p14:sldId id="266"/>
          </p14:sldIdLst>
        </p14:section>
        <p14:section name="Fecho" id="{9f9710ed-e6d8-ec1c-b29f-9945b5ab9045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Sprint 1 vai do problema ao requisito: o que o sistema faz, antes de qualquer serviço da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usa o trem sabe quais pontos evitar, mas esse saber fica em grupos de mensagem. Quem vai embarcar à noite numa estação que não conhece não tem onde ver o que outras passageiras já perceberam. A pergunta da tela resume 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CPTM SOS original age no momento do perigo: sirene, localização, 190. O recorte de nuvem age antes. Registrar e consultar vêm juntos, e a confirmação separa o problema recorrente do caso isolado. Alarme, conta, denúncia de pessoa e moderação ficam de fora.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projeto da disciplina responde a quatro perguntas: o que se cadastra, o arquivo que vem junto, o campo de busca e a pergunta da tela. As quatro respostas dão a forma do sistema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requisitos funcionais, cada um com verbo, objeto e condição verificáveis. Depois da devolutiva de 08/10, todo requisito cita o serviço da AWS onde acontece, e os seis serviços do percurso aparecem.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requisitos de domínio limitam todos os outros: o relato é anônimo, fala do local e nunca de uma pessoa, e não é pedido de socorro. Eles impedem campos de identificação, conta para relatar, campo de suspeito e qualquer promessa de atendimento.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três histórias seguem o formato Como, Eu quero, Para que. A US-01 registra, a US-02 consulta antes de embarcar e a US-03 confirma. Usamos passageira porque o projeto nasceu de reclamações de usuárias; o sistema serve a qualquer pessoa.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história tem dois cenários em Dado, Quando, Então: um caminho feliz e uma exceção. Valor inválido na US-01, lista vazia na US-02 e relato expirado na US-03. Na lista vazia, a mensagem avisa que nenhum relato não quer dizer estação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US-01 passa em todos os critérios do INVEST. A US-02 e a US-03 reprovam no I, de independente, e isso é do próprio problema: só se confirma o que existe, e a ordem por confirmações só aparece depois que confirmar for possível. Juntar as histórias trocaria a reprovação no I por uma no S. Por isso o backlog vai US-01, US-03, US-02.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FURPS registra cinco preocupações de qualidade, ainda sem número. Elas vêm do uso real: a plataforma, o túnel sem sinal, a estação que muda de nome. Na Sprint 2, cada uma ganha um destino: um requisito com número, a chave da tabela ou uma regra.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decisão tem uma alternativa descartada. O alarme já existe no app original. Denúncia de pessoa acusa quem não está ali, e crime tem canal próprio. A consulta é por estação, não por linha. E a confirmação não pede conta: aceitamos o risco de confirmações repetidas e o declaramos.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lembrar: a Sprint 1 começa pelo problema da passageira, e só depois chega ao serviço. Relato, foto, estação e a janela de 30 dias dão a forma de tudo o que vem depois.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" y="2651760"/>
            <a:ext cx="5257800" cy="1344168"/>
          </a:xfrm>
          <a:prstGeom prst="rect">
            <a:avLst>
              <a:gd name="adj" fmla="val 4082"/>
            </a:avLst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/>
        </p:nvSpPr>
        <p:spPr>
          <a:xfrm>
            <a:off x="10515600" y="612648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10515600" y="612648"/>
            <a:ext cx="868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813816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051560" y="2651760"/>
            <a:ext cx="7315200" cy="13441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813816" y="4160520"/>
            <a:ext cx="91440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813816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5912" y="24688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m areia">
    <p:bg>
      <p:bgPr>
        <a:solidFill>
          <a:schemeClr val="accent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25912" y="246888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15600" y="612648"/>
            <a:ext cx="868680" cy="8686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10515600" y="612648"/>
            <a:ext cx="86868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13816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813816" y="2331720"/>
            <a:ext cx="96012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i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813816" y="443484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10515600" y="6126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813816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 em ciência de dados iv · sprint 1</a:t>
            </a:r>
            <a:endParaRPr lang="en-US" sz="1500" dirty="0"/>
          </a:p>
        </p:txBody>
      </p:sp>
      <p:sp>
        <p:nvSpPr>
          <p:cNvPr id="4" name="Text 2"/>
          <p:cNvSpPr/>
          <p:nvPr>
            <p:ph idx="104" type="title" hasCustomPrompt="1"/>
          </p:nvPr>
        </p:nvSpPr>
        <p:spPr>
          <a:xfrm>
            <a:off x="1051560" y="2651760"/>
            <a:ext cx="731520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tx1"/>
                </a:solidFill>
              </a:rPr>
              <a:t>CPTM SOS</a:t>
            </a:r>
            <a:endParaRPr lang="en-US" sz="8000" dirty="0"/>
          </a:p>
        </p:txBody>
      </p:sp>
      <p:sp>
        <p:nvSpPr>
          <p:cNvPr id="5" name="Text 2"/>
          <p:cNvSpPr/>
          <p:nvPr>
            <p:ph idx="105" type="body" hasCustomPrompt="1"/>
          </p:nvPr>
        </p:nvSpPr>
        <p:spPr>
          <a:xfrm>
            <a:off x="813816" y="416052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i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problema ao requisito</a:t>
            </a:r>
            <a:endParaRPr lang="en-US" sz="3800" dirty="0"/>
          </a:p>
        </p:txBody>
      </p:sp>
      <p:sp>
        <p:nvSpPr>
          <p:cNvPr id="6" name="Text 2"/>
          <p:cNvSpPr/>
          <p:nvPr>
            <p:ph idx="106" type="body" hasCustomPrompt="1"/>
          </p:nvPr>
        </p:nvSpPr>
        <p:spPr>
          <a:xfrm>
            <a:off x="813816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[nomes da equipe] · ibmec · 2º semestre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1 · o problema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5046269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Saber antes de chegar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214884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chemeClr val="tx1"/>
                </a:solidFill>
              </a:rPr>
              <a:t>Quem usa o trem todo dia sabe quais pontos evitar: a escada sem luz, a passarela vazia depois das dez, o corredor sem agente. Esse saber circula entre amigas e não chega a quem passa ali pela primeira vez.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3816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relato chega com</a:t>
            </a:r>
            <a:endParaRPr lang="en-US" sz="1200" dirty="0"/>
          </a:p>
        </p:txBody>
      </p:sp>
      <p:sp>
        <p:nvSpPr>
          <p:cNvPr id="9" name="Etiqueta estação"/>
          <p:cNvSpPr txBox="1"/>
          <p:nvPr/>
        </p:nvSpPr>
        <p:spPr>
          <a:xfrm>
            <a:off x="813816" y="3977640"/>
            <a:ext cx="10744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estação</a:t>
            </a:r>
            <a:endParaRPr lang="en-US" sz="1500" dirty="0"/>
          </a:p>
        </p:txBody>
      </p:sp>
      <p:sp>
        <p:nvSpPr>
          <p:cNvPr id="10" name="Etiqueta tipo"/>
          <p:cNvSpPr txBox="1"/>
          <p:nvPr/>
        </p:nvSpPr>
        <p:spPr>
          <a:xfrm>
            <a:off x="2025396" y="3977640"/>
            <a:ext cx="7315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1500" dirty="0"/>
          </a:p>
        </p:txBody>
      </p:sp>
      <p:sp>
        <p:nvSpPr>
          <p:cNvPr id="11" name="Etiqueta faixa"/>
          <p:cNvSpPr txBox="1"/>
          <p:nvPr/>
        </p:nvSpPr>
        <p:spPr>
          <a:xfrm>
            <a:off x="2894076" y="3977640"/>
            <a:ext cx="8458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faixa</a:t>
            </a:r>
            <a:endParaRPr lang="en-US" sz="1500" dirty="0"/>
          </a:p>
        </p:txBody>
      </p:sp>
      <p:sp>
        <p:nvSpPr>
          <p:cNvPr id="12" name="Etiqueta foto"/>
          <p:cNvSpPr txBox="1"/>
          <p:nvPr/>
        </p:nvSpPr>
        <p:spPr>
          <a:xfrm>
            <a:off x="3877056" y="3977640"/>
            <a:ext cx="7315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</a:t>
            </a:r>
            <a:endParaRPr lang="en-US" sz="1500" dirty="0"/>
          </a:p>
        </p:txBody>
      </p:sp>
      <p:sp>
        <p:nvSpPr>
          <p:cNvPr id="13" name="Etiqueta descrição"/>
          <p:cNvSpPr txBox="1"/>
          <p:nvPr/>
        </p:nvSpPr>
        <p:spPr>
          <a:xfrm>
            <a:off x="4745736" y="3977640"/>
            <a:ext cx="13030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descrição</a:t>
            </a:r>
            <a:endParaRPr lang="en-US" sz="1500" dirty="0"/>
          </a:p>
        </p:txBody>
      </p:sp>
      <p:sp>
        <p:nvSpPr>
          <p:cNvPr id="14" name="Cartão a pergunta da tela"/>
          <p:cNvSpPr/>
          <p:nvPr/>
        </p:nvSpPr>
        <p:spPr>
          <a:xfrm>
            <a:off x="6812280" y="2176272"/>
            <a:ext cx="4572000" cy="3886200"/>
          </a:xfrm>
          <a:prstGeom prst="roundRect">
            <a:avLst>
              <a:gd name="adj" fmla="val 2824"/>
            </a:avLst>
          </a:prstGeom>
          <a:solidFill>
            <a:schemeClr val="accent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32320" y="2468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pergunta da tela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306324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 que foi relatado nesta estação nos últimos 30 dias?”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50749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Sprint 1 diz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 que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o sistema faz, antes de qualquer serviço da AWS.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1 · o recorte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6311227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Antes do perigo, não durante</a:t>
            </a:r>
            <a:endParaRPr lang="en-US" sz="3400" dirty="0"/>
          </a:p>
        </p:txBody>
      </p:sp>
      <p:graphicFrame>
        <p:nvGraphicFramePr>
          <p:cNvPr id="4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148840"/>
          <a:ext cx="10570464" cy="914400"/>
        </p:xfrm>
        <a:graphic>
          <a:graphicData uri="http://schemas.openxmlformats.org/drawingml/2006/table">
            <a:tbl>
              <a:tblPr/>
              <a:tblGrid>
                <a:gridCol w="5285232"/>
                <a:gridCol w="528523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2"/>
                          </a:solidFill>
                        </a:rPr>
                        <a:t>dentro do escopo</a:t>
                      </a:r>
                      <a:endParaRPr lang="en-US" sz="17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2"/>
                          </a:solidFill>
                        </a:rPr>
                        <a:t>fora do escopo</a:t>
                      </a:r>
                      <a:endParaRPr lang="en-US" sz="17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Registrar um ponto inseguro, com foto do local</a:t>
                      </a:r>
                      <a:endParaRPr lang="en-US" sz="17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Botão de emergência, sirene e localização em tempo real</a:t>
                      </a:r>
                      <a:endParaRPr lang="en-US" sz="17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Consultar os relatos dos últimos 30 dias de uma estação</a:t>
                      </a:r>
                      <a:endParaRPr lang="en-US" sz="17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Conta de usuário e autenticação</a:t>
                      </a:r>
                      <a:endParaRPr lang="en-US" sz="17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Confirmar um relato que já existe</a:t>
                      </a:r>
                      <a:endParaRPr lang="en-US" sz="17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Denúncia de crime ou de pessoa</a:t>
                      </a:r>
                      <a:endParaRPr lang="en-US" sz="17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Recusar relato sem foto ou com campo inválido</a:t>
                      </a:r>
                      <a:endParaRPr lang="en-US" sz="17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Moderação e envio dos relatos à operadora</a:t>
                      </a:r>
                      <a:endParaRPr lang="en-US" sz="17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13816" y="5486400"/>
            <a:ext cx="10570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CPTM SOS age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momento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do perigo. Este recorte age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antes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: saber por onde não passar.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1 · as quatro perguntas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7598854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Quatro perguntas, quatro respostas</a:t>
            </a:r>
            <a:endParaRPr lang="en-US" sz="3400" dirty="0"/>
          </a:p>
        </p:txBody>
      </p:sp>
      <p:sp>
        <p:nvSpPr>
          <p:cNvPr id="7" name="Cartão Relato"/>
          <p:cNvSpPr/>
          <p:nvPr/>
        </p:nvSpPr>
        <p:spPr>
          <a:xfrm>
            <a:off x="813816" y="2148840"/>
            <a:ext cx="2258568" cy="1691640"/>
          </a:xfrm>
          <a:prstGeom prst="roundRect">
            <a:avLst>
              <a:gd name="adj" fmla="val 6486"/>
            </a:avLst>
          </a:prstGeom>
          <a:solidFill>
            <a:schemeClr val="accent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69848" y="237744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cadastro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69848" y="2724912"/>
            <a:ext cx="1746504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Relato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069848" y="3203448"/>
            <a:ext cx="17465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ponto inseguro</a:t>
            </a:r>
            <a:endParaRPr lang="en-US" sz="1600" dirty="0"/>
          </a:p>
        </p:txBody>
      </p:sp>
      <p:sp>
        <p:nvSpPr>
          <p:cNvPr id="11" name="Seta"/>
          <p:cNvSpPr/>
          <p:nvPr/>
        </p:nvSpPr>
        <p:spPr>
          <a:xfrm>
            <a:off x="3172968" y="2907792"/>
            <a:ext cx="310896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Cartão Foto"/>
          <p:cNvSpPr/>
          <p:nvPr/>
        </p:nvSpPr>
        <p:spPr>
          <a:xfrm>
            <a:off x="3584448" y="2148840"/>
            <a:ext cx="2258568" cy="1691640"/>
          </a:xfrm>
          <a:prstGeom prst="roundRect">
            <a:avLst>
              <a:gd name="adj" fmla="val 6486"/>
            </a:avLst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840480" y="237744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arquivo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2724912"/>
            <a:ext cx="1746504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840480" y="3203448"/>
            <a:ext cx="17465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 local, nunca de pessoas</a:t>
            </a:r>
            <a:endParaRPr lang="en-US" sz="1600" dirty="0"/>
          </a:p>
        </p:txBody>
      </p:sp>
      <p:sp>
        <p:nvSpPr>
          <p:cNvPr id="16" name="Seta"/>
          <p:cNvSpPr/>
          <p:nvPr/>
        </p:nvSpPr>
        <p:spPr>
          <a:xfrm>
            <a:off x="5943600" y="2907792"/>
            <a:ext cx="310896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7" name="Cartão Estação"/>
          <p:cNvSpPr/>
          <p:nvPr/>
        </p:nvSpPr>
        <p:spPr>
          <a:xfrm>
            <a:off x="6355080" y="2148840"/>
            <a:ext cx="2258568" cy="1691640"/>
          </a:xfrm>
          <a:prstGeom prst="roundRect">
            <a:avLst>
              <a:gd name="adj" fmla="val 6486"/>
            </a:avLst>
          </a:prstGeom>
          <a:solidFill>
            <a:schemeClr val="accent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611112" y="237744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busca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611112" y="2724912"/>
            <a:ext cx="1746504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Estação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611112" y="3203448"/>
            <a:ext cx="17465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campo da consulta</a:t>
            </a:r>
            <a:endParaRPr lang="en-US" sz="1600" dirty="0"/>
          </a:p>
        </p:txBody>
      </p:sp>
      <p:sp>
        <p:nvSpPr>
          <p:cNvPr id="21" name="Seta"/>
          <p:cNvSpPr/>
          <p:nvPr/>
        </p:nvSpPr>
        <p:spPr>
          <a:xfrm>
            <a:off x="8714232" y="2907792"/>
            <a:ext cx="310896" cy="1828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2" name="Cartão 30 dias"/>
          <p:cNvSpPr/>
          <p:nvPr/>
        </p:nvSpPr>
        <p:spPr>
          <a:xfrm>
            <a:off x="9125712" y="2148840"/>
            <a:ext cx="2258568" cy="1691640"/>
          </a:xfrm>
          <a:prstGeom prst="roundRect">
            <a:avLst>
              <a:gd name="adj" fmla="val 6486"/>
            </a:avLst>
          </a:prstGeom>
          <a:solidFill>
            <a:schemeClr val="accent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9381744" y="2377440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tela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381744" y="2724912"/>
            <a:ext cx="1746504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dias</a:t>
            </a:r>
            <a:endParaRPr lang="en-US" sz="2400" dirty="0"/>
          </a:p>
        </p:txBody>
      </p:sp>
      <p:sp>
        <p:nvSpPr>
          <p:cNvPr id="25" name="Text 22"/>
          <p:cNvSpPr txBox="1"/>
          <p:nvPr/>
        </p:nvSpPr>
        <p:spPr>
          <a:xfrm>
            <a:off x="9381744" y="3203448"/>
            <a:ext cx="1746504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janela da lista</a:t>
            </a:r>
            <a:endParaRPr lang="en-US" sz="1600" dirty="0"/>
          </a:p>
        </p:txBody>
      </p:sp>
      <p:sp>
        <p:nvSpPr>
          <p:cNvPr id="26" name="Linha da coluna"/>
          <p:cNvSpPr/>
          <p:nvPr/>
        </p:nvSpPr>
        <p:spPr>
          <a:xfrm>
            <a:off x="813816" y="4343400"/>
            <a:ext cx="5157216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3816" y="4498848"/>
            <a:ext cx="5157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 e consultar → juntos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813816" y="4892040"/>
            <a:ext cx="5157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consulta só mostra o que alguém registrou, e ninguém registra o que ninguém vai ler.</a:t>
            </a:r>
            <a:endParaRPr lang="en-US" sz="1800" dirty="0"/>
          </a:p>
        </p:txBody>
      </p:sp>
      <p:sp>
        <p:nvSpPr>
          <p:cNvPr id="29" name="Linha da coluna"/>
          <p:cNvSpPr/>
          <p:nvPr/>
        </p:nvSpPr>
        <p:spPr>
          <a:xfrm>
            <a:off x="6227064" y="4343400"/>
            <a:ext cx="5157216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27064" y="4498848"/>
            <a:ext cx="5157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confirmar → o que se repete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227064" y="4892040"/>
            <a:ext cx="5157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Dez passageiras na mesma escada escura viram um relato e nove confirmações, e não dez relatos soltos.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1 · requisitos funcionais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6877964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Cinco requisitos, seis serviços</a:t>
            </a:r>
            <a:endParaRPr lang="en-US" sz="3400" dirty="0"/>
          </a:p>
        </p:txBody>
      </p:sp>
      <p:graphicFrame>
        <p:nvGraphicFramePr>
          <p:cNvPr id="6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103120"/>
          <a:ext cx="10570464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5852160"/>
                <a:gridCol w="2523744"/>
                <a:gridCol w="1234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o sistema deve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serviço aws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prioridade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RF-01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registrar o relato, com protocolo único, data e hora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API Gateway, DynamoDB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essencial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RF-02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armazenar a foto do local e deixar o endereço no relato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S3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essencial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RF-03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listar os relatos da estação nos últimos 30 dias, por confirmações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Lambda, IAM, DynamoDB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essencial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RF-04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somar uma confirmação a um relato de até 30 dias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DynamoDB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importante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RF-05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recusar relato inválido, dizendo o campo e registrando a recusa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Lambda, CloudWatch Logs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essencial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13816" y="5669280"/>
            <a:ext cx="10570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Devolutiva de 08/10: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todo requisito cita o seu serviço, e o verbo é o que o sistema faz, nunca “usar”.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1 · requisitos de domínio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6578727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Três regras que nada atropela</a:t>
            </a:r>
            <a:endParaRPr lang="en-US" sz="3400" dirty="0"/>
          </a:p>
        </p:txBody>
      </p:sp>
      <p:sp>
        <p:nvSpPr>
          <p:cNvPr id="7" name="Cartão Anônimo"/>
          <p:cNvSpPr/>
          <p:nvPr/>
        </p:nvSpPr>
        <p:spPr>
          <a:xfrm>
            <a:off x="813816" y="2148840"/>
            <a:ext cx="3346704" cy="2514600"/>
          </a:xfrm>
          <a:prstGeom prst="roundRect">
            <a:avLst>
              <a:gd name="adj" fmla="val 4364"/>
            </a:avLst>
          </a:prstGeom>
          <a:solidFill>
            <a:schemeClr val="accent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69848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rd-01 · lgpd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069848" y="2724912"/>
            <a:ext cx="283464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Anônimo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069848" y="3166618"/>
            <a:ext cx="2834640" cy="1332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Sem nome, CPF, e-mail ou conta. Quem teme retaliação não relata se puder ser identificada.</a:t>
            </a:r>
            <a:endParaRPr lang="en-US" sz="1700" dirty="0"/>
          </a:p>
        </p:txBody>
      </p:sp>
      <p:sp>
        <p:nvSpPr>
          <p:cNvPr id="11" name="Cartão O local, não a pessoa"/>
          <p:cNvSpPr/>
          <p:nvPr/>
        </p:nvSpPr>
        <p:spPr>
          <a:xfrm>
            <a:off x="4425696" y="2148840"/>
            <a:ext cx="3346704" cy="2514600"/>
          </a:xfrm>
          <a:prstGeom prst="roundRect">
            <a:avLst>
              <a:gd name="adj" fmla="val 4364"/>
            </a:avLst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681728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rd-02 · lgpd e código penal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681728" y="2724912"/>
            <a:ext cx="283464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local, não a pessoa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681728" y="3166618"/>
            <a:ext cx="2834640" cy="1332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Nem o texto nem a foto identificam alguém. A foto mostra a escada, não quem está nela.</a:t>
            </a:r>
            <a:endParaRPr lang="en-US" sz="1700" dirty="0"/>
          </a:p>
        </p:txBody>
      </p:sp>
      <p:sp>
        <p:nvSpPr>
          <p:cNvPr id="15" name="Cartão Não é socorro"/>
          <p:cNvSpPr/>
          <p:nvPr/>
        </p:nvSpPr>
        <p:spPr>
          <a:xfrm>
            <a:off x="8037576" y="2148840"/>
            <a:ext cx="3346704" cy="2514600"/>
          </a:xfrm>
          <a:prstGeom prst="roundRect">
            <a:avLst>
              <a:gd name="adj" fmla="val 4364"/>
            </a:avLst>
          </a:prstGeom>
          <a:solidFill>
            <a:schemeClr val="accent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293608" y="23774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rd-03 · regra do cenário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293608" y="2724912"/>
            <a:ext cx="2834640" cy="405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socorro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293608" y="3166618"/>
            <a:ext cx="2834640" cy="1332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Ninguém atende o relato em tempo real. A tela indica o 190 para emergência.</a:t>
            </a:r>
            <a:endParaRPr lang="en-US" sz="1700" dirty="0"/>
          </a:p>
        </p:txBody>
      </p:sp>
      <p:sp>
        <p:nvSpPr>
          <p:cNvPr id="19" name="Barra o que isso impede"/>
          <p:cNvSpPr/>
          <p:nvPr/>
        </p:nvSpPr>
        <p:spPr>
          <a:xfrm>
            <a:off x="813816" y="4937760"/>
            <a:ext cx="10570464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69848" y="5257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isso impede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3520440" y="5074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Campo de nome, conta para relatar, campo para descrever suspeito e mensagem que prometa atendimento.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1 · histórias de usuário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6877964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Três histórias, uma passageira</a:t>
            </a:r>
            <a:endParaRPr lang="en-US" sz="3400" dirty="0"/>
          </a:p>
        </p:txBody>
      </p:sp>
      <p:sp>
        <p:nvSpPr>
          <p:cNvPr id="7" name="Bloco escuro"/>
          <p:cNvSpPr/>
          <p:nvPr/>
        </p:nvSpPr>
        <p:spPr>
          <a:xfrm>
            <a:off x="813816" y="2148840"/>
            <a:ext cx="6355080" cy="393192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33856" y="2514600"/>
            <a:ext cx="5715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Como    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passageira que passou por um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trecho onde se sentiu insegura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Eu quero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 esse ponto com uma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foto do local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que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outras passageiras saibam do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risco antes de passar ali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543800" y="2514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· us-01 · registrar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284378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 a foto do local, para avisar quem vem depois.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us-02 · consultar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403250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Antes de embarcar à noite numa estação que conhece pouco.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4892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· us-03 · confirmar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5221224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Para mostrar que o problema se repete, e não é caso isolado.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1 · critérios de aceite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6891566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Metade dos critérios é exceção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13816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história, dois cenários: o caminho feliz e uma exceção</a:t>
            </a:r>
            <a:endParaRPr lang="en-US" sz="1200" dirty="0"/>
          </a:p>
        </p:txBody>
      </p:sp>
      <p:sp>
        <p:nvSpPr>
          <p:cNvPr id="8" name="Etiqueta dado que"/>
          <p:cNvSpPr txBox="1"/>
          <p:nvPr/>
        </p:nvSpPr>
        <p:spPr>
          <a:xfrm>
            <a:off x="813816" y="2468880"/>
            <a:ext cx="11887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 que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112264" y="24688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Etiqueta quando"/>
          <p:cNvSpPr txBox="1"/>
          <p:nvPr/>
        </p:nvSpPr>
        <p:spPr>
          <a:xfrm>
            <a:off x="2496312" y="2468880"/>
            <a:ext cx="9601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24688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Etiqueta então"/>
          <p:cNvSpPr txBox="1"/>
          <p:nvPr/>
        </p:nvSpPr>
        <p:spPr>
          <a:xfrm>
            <a:off x="3950208" y="2468880"/>
            <a:ext cx="845820" cy="384048"/>
          </a:xfrm>
          <a:prstGeom prst="roundRect">
            <a:avLst>
              <a:gd name="adj" fmla="val 11905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então</a:t>
            </a:r>
            <a:endParaRPr lang="en-US" sz="1500" dirty="0"/>
          </a:p>
        </p:txBody>
      </p:sp>
      <p:sp>
        <p:nvSpPr>
          <p:cNvPr id="13" name="Cartão inválido"/>
          <p:cNvSpPr/>
          <p:nvPr/>
        </p:nvSpPr>
        <p:spPr>
          <a:xfrm>
            <a:off x="813816" y="3154680"/>
            <a:ext cx="3346704" cy="2788920"/>
          </a:xfrm>
          <a:prstGeom prst="roundRect">
            <a:avLst>
              <a:gd name="adj" fmla="val 3934"/>
            </a:avLst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69848" y="3383280"/>
            <a:ext cx="283464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inválido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1069848" y="4156456"/>
            <a:ext cx="2834640" cy="162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US-01 · “Barra Funda” não está na lista: o nome oficial é Palmeiras-Barra Funda. Recusado, e nada é gravado.</a:t>
            </a:r>
            <a:endParaRPr lang="en-US" sz="1700" dirty="0"/>
          </a:p>
        </p:txBody>
      </p:sp>
      <p:sp>
        <p:nvSpPr>
          <p:cNvPr id="16" name="Cartão vazio"/>
          <p:cNvSpPr/>
          <p:nvPr/>
        </p:nvSpPr>
        <p:spPr>
          <a:xfrm>
            <a:off x="4425696" y="3154680"/>
            <a:ext cx="3346704" cy="2788920"/>
          </a:xfrm>
          <a:prstGeom prst="roundRect">
            <a:avLst>
              <a:gd name="adj" fmla="val 3934"/>
            </a:avLst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681728" y="3383280"/>
            <a:ext cx="283464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vazio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4681728" y="4156456"/>
            <a:ext cx="2834640" cy="162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US-02 · Botujuru sem relatos: “Isso não quer dizer que a estação seja segura.”</a:t>
            </a:r>
            <a:endParaRPr lang="en-US" sz="1700" dirty="0"/>
          </a:p>
        </p:txBody>
      </p:sp>
      <p:sp>
        <p:nvSpPr>
          <p:cNvPr id="19" name="Cartão expirado"/>
          <p:cNvSpPr/>
          <p:nvPr/>
        </p:nvSpPr>
        <p:spPr>
          <a:xfrm>
            <a:off x="8037576" y="3154680"/>
            <a:ext cx="3346704" cy="2788920"/>
          </a:xfrm>
          <a:prstGeom prst="roundRect">
            <a:avLst>
              <a:gd name="adj" fmla="val 3934"/>
            </a:avLst>
          </a:prstGeom>
          <a:solidFill>
            <a:schemeClr val="accent3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93608" y="3383280"/>
            <a:ext cx="283464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expirado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8293608" y="4156456"/>
            <a:ext cx="2834640" cy="1622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US-03 · Relato de 31 dias: a confirmação é recusada, e ele continua com 4.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1 · invest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4556608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Onde o I não passa</a:t>
            </a:r>
            <a:endParaRPr lang="en-US" sz="3400" dirty="0"/>
          </a:p>
        </p:txBody>
      </p:sp>
      <p:sp>
        <p:nvSpPr>
          <p:cNvPr id="7" name="Cartão invest"/>
          <p:cNvSpPr/>
          <p:nvPr/>
        </p:nvSpPr>
        <p:spPr>
          <a:xfrm>
            <a:off x="813816" y="2148840"/>
            <a:ext cx="4069080" cy="393192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15568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invest, por história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15568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15568" y="31363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26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V E S 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1115568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15568" y="395935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26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V E S T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1115568" y="4526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us-03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115568" y="47823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buNone/>
            </a:pPr>
            <a:r>
              <a:rPr lang="en-US" sz="26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V E S T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1115568" y="5440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independente · S = pequena</a:t>
            </a:r>
            <a:endParaRPr lang="en-US" sz="1200" dirty="0"/>
          </a:p>
        </p:txBody>
      </p:sp>
      <p:sp>
        <p:nvSpPr>
          <p:cNvPr id="16" name="Marca do item"/>
          <p:cNvSpPr/>
          <p:nvPr/>
        </p:nvSpPr>
        <p:spPr>
          <a:xfrm>
            <a:off x="5394960" y="228600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669280" y="228600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Só se confirma o que existe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0" y="2688336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US-03 depende da US-01.</a:t>
            </a:r>
            <a:endParaRPr lang="en-US" sz="1800" dirty="0"/>
          </a:p>
        </p:txBody>
      </p:sp>
      <p:sp>
        <p:nvSpPr>
          <p:cNvPr id="19" name="Marca do item"/>
          <p:cNvSpPr/>
          <p:nvPr/>
        </p:nvSpPr>
        <p:spPr>
          <a:xfrm>
            <a:off x="5394960" y="356616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669280" y="356616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A ordem pede confirmações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5669280" y="3968496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US-02 só mostra a ordem por confirmações depois que a US-03 existe.</a:t>
            </a:r>
            <a:endParaRPr lang="en-US" sz="1800" dirty="0"/>
          </a:p>
        </p:txBody>
      </p:sp>
      <p:sp>
        <p:nvSpPr>
          <p:cNvPr id="22" name="Marca do item"/>
          <p:cNvSpPr/>
          <p:nvPr/>
        </p:nvSpPr>
        <p:spPr>
          <a:xfrm>
            <a:off x="5394960" y="4846320"/>
            <a:ext cx="54864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669280" y="4846320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Juntar não resolve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0" y="5248656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Uma história só reprovaria no 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Ordem do backlog: US-01, US-03, US-02.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1 · furps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6578727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Qualidade, ainda sem número</a:t>
            </a:r>
            <a:endParaRPr lang="en-US" sz="3400" dirty="0"/>
          </a:p>
        </p:txBody>
      </p:sp>
      <p:graphicFrame>
        <p:nvGraphicFramePr>
          <p:cNvPr id="11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148840"/>
          <a:ext cx="63550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389120"/>
              </a:tblGrid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2"/>
                          </a:solidFill>
                        </a:rPr>
                        <a:t>categoria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2"/>
                          </a:solidFill>
                        </a:rPr>
                        <a:t>a preocupação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Functionality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relato com mais de 30 dias não aparece nem é confirmado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Usability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 lista é lida em pé, com uma mão ocupada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Reliability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o reenvio no túnel não duplica o relato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Performance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 lista chega antes de o trem parar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Supportability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estação que muda de nome não perde relatos</a:t>
                      </a:r>
                      <a:endParaRPr lang="en-US" sz="1600" dirty="0"/>
                    </a:p>
                  </a:txBody>
                  <a:tcPr marL="137160" marR="137160" marT="54864" marB="54864" anchor="ctr">
                    <a:lnL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C9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Cartão cinco preocupações"/>
          <p:cNvSpPr/>
          <p:nvPr/>
        </p:nvSpPr>
        <p:spPr>
          <a:xfrm>
            <a:off x="7580376" y="2148840"/>
            <a:ext cx="3803904" cy="3931920"/>
          </a:xfrm>
          <a:prstGeom prst="roundRect">
            <a:avLst>
              <a:gd name="adj" fmla="val 2885"/>
            </a:avLst>
          </a:prstGeom>
          <a:solidFill>
            <a:schemeClr val="accent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82128" y="2514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000" dirty="0"/>
          </a:p>
        </p:txBody>
      </p:sp>
      <p:sp>
        <p:nvSpPr>
          <p:cNvPr id="10" name="Text 6"/>
          <p:cNvSpPr txBox="1"/>
          <p:nvPr/>
        </p:nvSpPr>
        <p:spPr>
          <a:xfrm>
            <a:off x="7882128" y="37490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preocupações, ainda sem número.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7882128" y="46177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 Sprint 2, cada uma ganha um destino: um requisito com número, a chave da tabela ou uma regra.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725912" y="2468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cptm sos · sprint 1 · decisões</a:t>
            </a:r>
            <a:endParaRPr lang="en-US" sz="1200" dirty="0"/>
          </a:p>
        </p:txBody>
      </p:sp>
      <p:sp>
        <p:nvSpPr>
          <p:cNvPr id="4" name="Faixa do título"/>
          <p:cNvSpPr/>
          <p:nvPr/>
        </p:nvSpPr>
        <p:spPr>
          <a:xfrm>
            <a:off x="813816" y="1252728"/>
            <a:ext cx="6279490" cy="603504"/>
          </a:xfrm>
          <a:prstGeom prst="roundRect">
            <a:avLst>
              <a:gd name="adj" fmla="val 7576"/>
            </a:avLst>
          </a:prstGeom>
          <a:solidFill>
            <a:schemeClr val="accent1"/>
          </a:solidFill>
          <a:ln/>
        </p:spPr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1033272" y="1252728"/>
            <a:ext cx="9509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 que escolhemos não fazer</a:t>
            </a:r>
            <a:endParaRPr lang="en-US" sz="3400" dirty="0"/>
          </a:p>
        </p:txBody>
      </p:sp>
      <p:sp>
        <p:nvSpPr>
          <p:cNvPr id="7" name="Cartão Alarme e localização"/>
          <p:cNvSpPr/>
          <p:nvPr/>
        </p:nvSpPr>
        <p:spPr>
          <a:xfrm>
            <a:off x="813816" y="2148840"/>
            <a:ext cx="515721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69848" y="2377440"/>
            <a:ext cx="4645152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e localização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069848" y="2800731"/>
            <a:ext cx="4645152" cy="96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Já existem no app original e pedem serviços fora do percurso da disciplina.</a:t>
            </a:r>
            <a:endParaRPr lang="en-US" sz="1800" dirty="0"/>
          </a:p>
        </p:txBody>
      </p:sp>
      <p:sp>
        <p:nvSpPr>
          <p:cNvPr id="10" name="Cartão Denúncia de pessoa"/>
          <p:cNvSpPr/>
          <p:nvPr/>
        </p:nvSpPr>
        <p:spPr>
          <a:xfrm>
            <a:off x="6227064" y="2148840"/>
            <a:ext cx="515721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83096" y="2377440"/>
            <a:ext cx="4645152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Denúncia de pessoa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83096" y="2800731"/>
            <a:ext cx="4645152" cy="96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Acusa quem não está ali para se defender. Crime tem canal próprio: a polícia.</a:t>
            </a:r>
            <a:endParaRPr lang="en-US" sz="1800" dirty="0"/>
          </a:p>
        </p:txBody>
      </p:sp>
      <p:sp>
        <p:nvSpPr>
          <p:cNvPr id="13" name="Cartão Consulta por linha"/>
          <p:cNvSpPr/>
          <p:nvPr/>
        </p:nvSpPr>
        <p:spPr>
          <a:xfrm>
            <a:off x="813816" y="4160520"/>
            <a:ext cx="515721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69848" y="4389120"/>
            <a:ext cx="4645152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por linha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1069848" y="4812411"/>
            <a:ext cx="4645152" cy="96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passageira anda dentro de uma estação. E a Brás atende três linhas.</a:t>
            </a:r>
            <a:endParaRPr lang="en-US" sz="1800" dirty="0"/>
          </a:p>
        </p:txBody>
      </p:sp>
      <p:sp>
        <p:nvSpPr>
          <p:cNvPr id="16" name="Cartão Conta para confirmar"/>
          <p:cNvSpPr/>
          <p:nvPr/>
        </p:nvSpPr>
        <p:spPr>
          <a:xfrm>
            <a:off x="6227064" y="4160520"/>
            <a:ext cx="5157216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83096" y="4389120"/>
            <a:ext cx="4645152" cy="38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para confirmar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6483096" y="4812411"/>
            <a:ext cx="4645152" cy="966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Identificaria quem participa. Aceitamos o risco de confirmações repetidas, e ele está escrito.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10515600" y="6126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13816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lembrar</a:t>
            </a:r>
            <a:endParaRPr lang="en-US" sz="15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813816" y="233172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i="1" dirty="0">
                <a:solidFill>
                  <a:schemeClr val="bg2"/>
                </a:solidFill>
              </a:rPr>
              <a:t>Primeiro o problema,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i="1" dirty="0">
                <a:solidFill>
                  <a:schemeClr val="bg2"/>
                </a:solidFill>
              </a:rPr>
              <a:t>depois o serviço.</a:t>
            </a:r>
            <a:endParaRPr lang="en-US" sz="54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813816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relato → foto → estação → 30 dias</a:t>
            </a:r>
            <a:endParaRPr lang="en-US" sz="1500" dirty="0"/>
          </a:p>
        </p:txBody>
      </p:sp>
      <p:sp>
        <p:nvSpPr>
          <p:cNvPr id="6" name="Etiqueta perguntas"/>
          <p:cNvSpPr txBox="1"/>
          <p:nvPr/>
        </p:nvSpPr>
        <p:spPr>
          <a:xfrm>
            <a:off x="4800600" y="4434840"/>
            <a:ext cx="1783080" cy="475488"/>
          </a:xfrm>
          <a:prstGeom prst="roundRect">
            <a:avLst>
              <a:gd name="adj" fmla="val 961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TM SOS · modelo Sprint 3">
  <a:themeElements>
    <a:clrScheme name="CPTM SOS · modelo Sprint 3">
      <a:dk1>
        <a:srgbClr val="1E1714"/>
      </a:dk1>
      <a:lt1>
        <a:srgbClr val="FFFFFF"/>
      </a:lt1>
      <a:dk2>
        <a:srgbClr val="2340BF"/>
      </a:dk2>
      <a:lt2>
        <a:srgbClr val="F3EBDD"/>
      </a:lt2>
      <a:accent1>
        <a:srgbClr val="E84E1B"/>
      </a:accent1>
      <a:accent2>
        <a:srgbClr val="FDC13A"/>
      </a:accent2>
      <a:accent3>
        <a:srgbClr val="2E6B45"/>
      </a:accent3>
      <a:accent4>
        <a:srgbClr val="E6D7BD"/>
      </a:accent4>
      <a:accent5>
        <a:srgbClr val="6B5E52"/>
      </a:accent5>
      <a:accent6>
        <a:srgbClr val="D6C9B5"/>
      </a:accent6>
      <a:hlink>
        <a:srgbClr val="2340BF"/>
      </a:hlink>
      <a:folHlink>
        <a:srgbClr val="6B5E52"/>
      </a:folHlink>
    </a:clrScheme>
    <a:fontScheme name="CPTM SOS · modelo Sprint 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CPTM SOS · Sprint 1</dc:title>
  <dc:subject>PptxGenJS Presentation</dc:subject>
  <dc:creator>Equipe CPTM SOS</dc:creator>
  <cp:lastModifiedBy>Equipe CPTM SOS</cp:lastModifiedBy>
  <cp:revision>1</cp:revision>
  <dcterms:created xsi:type="dcterms:W3CDTF">2026-10-28T01:32:53Z</dcterms:created>
  <dcterms:modified xsi:type="dcterms:W3CDTF">2026-10-28T01:32:53Z</dcterms:modified>
</cp:coreProperties>
</file>